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5DD9FF"/>
                </a:solidFill>
              </a:rPr>
              <a:t>Real-Time Web Communication &amp; PWAs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26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FFD166"/>
                </a:solidFill>
              </a:rPr>
              <a:t>Web Development — Week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4903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ECEFF4"/>
                </a:solidFill>
              </a:rPr>
              <a:t>Polling · HTTP Streaming · SSE · WebSockets · SignalR · WebRTC · Service Workers · Web Push · PWA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999AA"/>
                </a:solidFill>
              </a:rPr>
              <a:t>Cross-referenced with GPT-5.5 (high). ~3-hour lecture.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DD9FF"/>
                </a:solidFill>
              </a:rPr>
              <a:t>1. Why real-time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The web started as a pull medium. Users now expect push.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Chat, AI typing, dashboards, video, multiplayer — same question: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Who pushes data? When? Over which wire?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There is no "best" tech — only the right shape for the problem.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DD9FF"/>
                </a:solidFill>
              </a:rPr>
              <a:t>2. Pick the communication model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FD166"/>
                </a:solidFill>
              </a:rPr>
              <a:t>Decide before you reach for an API: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Direction — S→C, C→S, both, peer↔peer?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Latency budget — ms, sec, "eventually"?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Fan-out — 1:1, 1:many, many:many?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Reliability — must every message arrive in order?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Lifecycle — short request, persistent, or background?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DD9FF"/>
                </a:solidFill>
              </a:rPr>
              <a:t>3. HTTP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Stateless, client-initiated, request → response.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Half-duplex per request.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Friendly to CDNs, caches, proxies.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Every real-time tech bends, replaces, or bypasses HTTP.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Still right for CRUD, search, downloads, form submits.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DD9FF"/>
                </a:solidFill>
              </a:rPr>
              <a:t>4. HTTP Short Polling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FD166"/>
                </a:solidFill>
              </a:rPr>
              <a:t>Ask every N seconds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6EEA9B"/>
                </a:solidFill>
              </a:rPr>
              <a:t>•  Pros: trivial, stateless, universal.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FF7474"/>
                </a:solidFill>
              </a:rPr>
              <a:t>•  Cons: wasted requests; latency = poll interval.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ECEFF4"/>
                </a:solidFill>
              </a:rPr>
              <a:t>Client ──GET /updates──► Server (every 5s)
Client ──GET /updates──► Server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DD9FF"/>
                </a:solidFill>
              </a:rPr>
              <a:t>4. HTTP Long Polling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FD166"/>
                </a:solidFill>
              </a:rPr>
              <a:t>Server holds the response until data arrives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6EEA9B"/>
                </a:solidFill>
              </a:rPr>
              <a:t>•  Pros: near real-time, HTTP-friendly, survives proxies.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FF7474"/>
                </a:solidFill>
              </a:rPr>
              <a:t>•  Cons: many idle sockets; one message per round-trip.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ECEFF4"/>
                </a:solidFill>
              </a:rPr>
              <a:t>Client ──GET /updates──► Server (holds…)
                          ↓ data arrives
Client ◄────payload───── Server
Client ──GET /updates──► Server (reconnects immediately)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DD9FF"/>
                </a:solidFill>
              </a:rPr>
              <a:t>4. Polling —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"Is my batch job done?" status checks.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Low-frequency dashboards (≥ 30s tick).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Hostile-network fallback (hidden inside SignalR).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DD9FF"/>
                </a:solidFill>
              </a:rPr>
              <a:t>5. HTTP Streaming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FD166"/>
                </a:solidFill>
              </a:rPr>
              <a:t>One long response, body delivered in chunks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ECEFF4"/>
                </a:solidFill>
              </a:rPr>
              <a:t>Client ──POST /chat──► Server
        ◄──chunk 1── (token 1)
        ◄──chunk 2── (token 2)
        ◄──────────  end of stream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999AA"/>
                </a:solidFill>
              </a:rPr>
              <a:t>This is how ChatGPT-style "typing" UIs work today.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DD9FF"/>
                </a:solidFill>
              </a:rPr>
              <a:t>5. HTTP Streaming — pros &amp; cons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6EEA9B"/>
                </a:solidFill>
              </a:rPr>
              <a:t>Pros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7474"/>
                </a:solidFill>
              </a:rPr>
              <a:t>Cons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6EEA9B"/>
                </a:solidFill>
              </a:rPr>
              <a:t>•  Client can POST and stream back.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6EEA9B"/>
                </a:solidFill>
              </a:rPr>
              <a:t>•  Binary-safe; no new protocol.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6EEA9B"/>
                </a:solidFill>
              </a:rPr>
              <a:t>•  Works with auth headers, middleware, CDN.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6EEA9B"/>
                </a:solidFill>
              </a:rPr>
              <a:t>•  Perfect for LLM token streaming.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FF7474"/>
                </a:solidFill>
              </a:rPr>
              <a:t>•  No automatic reconnect — you write it.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7474"/>
                </a:solidFill>
              </a:rPr>
              <a:t>•  No standard framing — agree on NDJSON, etc.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7474"/>
                </a:solidFill>
              </a:rPr>
              <a:t>•  Buffering middleboxes can stall it.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7474"/>
                </a:solidFill>
              </a:rPr>
              <a:t>•  One-way like SSE.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DD9FF"/>
                </a:solidFill>
              </a:rPr>
              <a:t>6. Server-Sent Events (SSE)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FD166"/>
                </a:solidFill>
              </a:rPr>
              <a:t>Standardized server→client streaming over HTTP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MIME type text/event-stream.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Browser EventSource API does the work.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Last-Event-ID enables resume.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ECEFF4"/>
                </a:solidFill>
              </a:rPr>
              <a:t>Client ──GET /stream──► Server
      ◄── data: {…}
      ◄── event: update
           data: {…}
  (one persistent response, browser auto-reconnects)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DD9FF"/>
                </a:solidFill>
              </a:rPr>
              <a:t>6. SSE — pros &amp; cons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6EEA9B"/>
                </a:solidFill>
              </a:rPr>
              <a:t>Pros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7474"/>
                </a:solidFill>
              </a:rPr>
              <a:t>Cons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6EEA9B"/>
                </a:solidFill>
              </a:rPr>
              <a:t>•  Simplest persistent S→C channel.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6EEA9B"/>
                </a:solidFill>
              </a:rPr>
              <a:t>•  Built-in reconnect + resume.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6EEA9B"/>
                </a:solidFill>
              </a:rPr>
              <a:t>•  Plays with every HTTP intermediary.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6EEA9B"/>
                </a:solidFill>
              </a:rPr>
              <a:t>•  Ideal for LLM, dashboards, feeds.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FF7474"/>
                </a:solidFill>
              </a:rPr>
              <a:t>•  One-way only.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7474"/>
                </a:solidFill>
              </a:rPr>
              <a:t>•  Text/UTF-8 only.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7474"/>
                </a:solidFill>
              </a:rPr>
              <a:t>•  EventSource can't send custom headers.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7474"/>
                </a:solidFill>
              </a:rPr>
              <a:t>•  Long-lived sockets cost memory.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DD9FF"/>
                </a:solidFill>
              </a:rPr>
              <a:t>6. SSE —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AI / LLM token streaming.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Stock tickers, sensor data, build pipelines.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Live sports / election feeds, news, comments.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Log tailing in DevOps dashboards.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DD9FF"/>
                </a:solidFill>
              </a:rPr>
              <a:t>7. WebSockets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FD166"/>
                </a:solidFill>
              </a:rPr>
              <a:t>RFC 6455 — full-duplex persistent channel after HTTP upgrade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ECEFF4"/>
                </a:solidFill>
              </a:rPr>
              <a:t>Client                       Server
──── GET /ws  Upgrade ────►
◄── 101 Switching Protocols ──
═══ framed text/binary   ═══►
◄═══ framed text/binary   ═══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DD9FF"/>
                </a:solidFill>
              </a:rPr>
              <a:t>7. WebSockets —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True bidirectional, low-latency messaging.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Text or binary payloads, optional compression.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Subprotocols (graphql-ws, mqtt, custom).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Browser-native everywhere.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DD9FF"/>
                </a:solidFill>
              </a:rPr>
              <a:t>7. WebSockets — pros &amp; cons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6EEA9B"/>
                </a:solidFill>
              </a:rPr>
              <a:t>Pros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7474"/>
                </a:solidFill>
              </a:rPr>
              <a:t>Cons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6EEA9B"/>
                </a:solidFill>
              </a:rPr>
              <a:t>•  Lowest-overhead bidirectional channel.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6EEA9B"/>
                </a:solidFill>
              </a:rPr>
              <a:t>•  Symmetrical — either side can speak.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6EEA9B"/>
                </a:solidFill>
              </a:rPr>
              <a:t>•  Predictable latency.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6EEA9B"/>
                </a:solidFill>
              </a:rPr>
              <a:t>•  Ecosystem in every language.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FF7474"/>
                </a:solidFill>
              </a:rPr>
              <a:t>•  You own the lifecycle.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7474"/>
                </a:solidFill>
              </a:rPr>
              <a:t>•  Sticky sessions + backplane to scale.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7474"/>
                </a:solidFill>
              </a:rPr>
              <a:t>•  Proxy hostility — need pings.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7474"/>
                </a:solidFill>
              </a:rPr>
              <a:t>•  No HTTP semantics after upgrade.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DD9FF"/>
                </a:solidFill>
              </a:rPr>
              <a:t>7. WebSockets —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Chat &amp; collaboration (Slack, Teams, Discord).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Real-time collaborative editing (Google Docs, Figma).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Multiplayer games &amp; low-latency state sync.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Trading dashboards &amp; live auctions.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IoT control plane (often via MQTT subprotocol).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DD9FF"/>
                </a:solidFill>
              </a:rPr>
              <a:t>8. SignalR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FD166"/>
                </a:solidFill>
              </a:rPr>
              <a:t>Microsoft's high-level real-time library for ASP.NET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Negotiates transport: WebSockets → SSE → Long Polling.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Hub programming model — server methods, client callbacks.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Connection lifecycle, reconnection, serialization, groups.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Optional managed cloud: Azure SignalR Service.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DD9FF"/>
                </a:solidFill>
              </a:rPr>
              <a:t>8. SignalR — what you get for free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Bidirectional RPC-style method calls.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Transparent transport fallback.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Groups, users, connection targeting.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Automatic reconnection.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ASP.NET Core auth integration.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Managed scale-out via Azure SignalR Service.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DD9FF"/>
                </a:solidFill>
              </a:rPr>
              <a:t>8. SignalR — pros &amp; cons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6EEA9B"/>
                </a:solidFill>
              </a:rPr>
              <a:t>Pros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7474"/>
                </a:solidFill>
              </a:rPr>
              <a:t>Cons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6EEA9B"/>
                </a:solidFill>
              </a:rPr>
              <a:t>•  Huge productivity win on .NET.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6EEA9B"/>
                </a:solidFill>
              </a:rPr>
              <a:t>•  Group targeting without a registry.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6EEA9B"/>
                </a:solidFill>
              </a:rPr>
              <a:t>•  Built-in fallback + reconnection.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6EEA9B"/>
                </a:solidFill>
              </a:rPr>
              <a:t>•  Clean cloud upgrade path.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FF7474"/>
                </a:solidFill>
              </a:rPr>
              <a:t>•  Framework lock-in.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7474"/>
                </a:solidFill>
              </a:rPr>
              <a:t>•  JSON default — use MessagePack at scale.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7474"/>
                </a:solidFill>
              </a:rPr>
              <a:t>•  Silent long-polling fallback hides bugs.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7474"/>
                </a:solidFill>
              </a:rPr>
              <a:t>•  Negotiation endpoint is a hotspot.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DD9FF"/>
                </a:solidFill>
              </a:rPr>
              <a:t>8. SignalR —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Enterprise chat / collaboration on .NET.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Live ops / finance / support dashboards.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In-app real-time notifications.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Auctions, ticketing, order flow.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AI token streaming to .NET clients.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Signaling channel for WebRTC (next!).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DD9FF"/>
                </a:solidFill>
              </a:rPr>
              <a:t>9. WebRTC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FD166"/>
                </a:solidFill>
              </a:rPr>
              <a:t>Peer-to-peer audio, video, and data between browsers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ECEFF4"/>
                </a:solidFill>
              </a:rPr>
              <a:t>Browser A ◄── Signaling Server ──► Browser B
           (SDP, ICE via WS / SignalR)
      │                                  │
      └──── Direct P2P (SRTP/DTLS) ──────┘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DD9FF"/>
                </a:solidFill>
              </a:rPr>
              <a:t>9. WebRTC — pillars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MediaStream — mic, camera, screen capture.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RTCPeerConnection — codecs, NAT, encryption, transport.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RTCDataChannel — arbitrary data (text, JSON, binary).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Signaling — your responsibility (WebSockets / SignalR).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DD9FF"/>
                </a:solidFill>
              </a:rPr>
              <a:t>9. WebRTC —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STUN — discover public IP behind NAT.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TURN — relay when peers can't connect (10–25% of sessions).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SFU — forward streams beyond ~4–6 peers.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MCU — mix/transcode for large meetings.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999AA"/>
                </a:solidFill>
              </a:rPr>
              <a:t>"Works on my LAN with just STUN" is a trap. Always test TURN.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DD9FF"/>
                </a:solidFill>
              </a:rPr>
              <a:t>9. WebRTC — pros &amp; cons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6EEA9B"/>
                </a:solidFill>
              </a:rPr>
              <a:t>Pros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7474"/>
                </a:solidFill>
              </a:rPr>
              <a:t>Cons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6EEA9B"/>
                </a:solidFill>
              </a:rPr>
              <a:t>•  Sub-100ms latency A/V.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6EEA9B"/>
                </a:solidFill>
              </a:rPr>
              <a:t>•  P2P saves bandwidth + latency.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6EEA9B"/>
                </a:solidFill>
              </a:rPr>
              <a:t>•  Mandatory encryption.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6EEA9B"/>
                </a:solidFill>
              </a:rPr>
              <a:t>•  Massive ecosystem.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FF7474"/>
                </a:solidFill>
              </a:rPr>
              <a:t>•  Substantial complexity.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7474"/>
                </a:solidFill>
              </a:rPr>
              <a:t>•  STUN / TURN / SFU infrastructure.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7474"/>
                </a:solidFill>
              </a:rPr>
              <a:t>•  Mesh breaks past 4–6 peers.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7474"/>
                </a:solidFill>
              </a:rPr>
              <a:t>•  Hard to observe server-side.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DD9FF"/>
                </a:solidFill>
              </a:rPr>
              <a:t>9. WebRTC —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Video calling (Meet, Teams, Jitsi, Whereby).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Telehealth &amp; telemedicine.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Customer support video + screen share.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Browser-native multiplayer games (data channels).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P2P file transfer &amp; E2E-encrypted chat.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Live AI avatars / sub-second agents.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DD9FF"/>
                </a:solidFill>
              </a:rPr>
              <a:t>10. Service Workers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FD166"/>
                </a:solidFill>
              </a:rPr>
              <a:t>JavaScript background script — programmable network proxy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Runs in a separate global, no DOM access.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Lifecycle: install / activate / fetch / push / sync.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Cache API + IndexedDB on device.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Foundation for offline, push, install.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DD9FF"/>
                </a:solidFill>
              </a:rPr>
              <a:t>10. Service Workers — caching strategies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188720"/>
          <a:ext cx="109728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Strategy</a:t>
                      </a:r>
                    </a:p>
                  </a:txBody>
                  <a:tcPr>
                    <a:solidFill>
                      <a:srgbClr val="1A3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Behavior</a:t>
                      </a:r>
                    </a:p>
                  </a:txBody>
                  <a:tcPr>
                    <a:solidFill>
                      <a:srgbClr val="1A3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Best for</a:t>
                      </a:r>
                    </a:p>
                  </a:txBody>
                  <a:tcPr>
                    <a:solidFill>
                      <a:srgbClr val="1A3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Cache-first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Cache → network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Static assets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Network-first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Network → cache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Fresh API data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Stale-while-revalidate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Serve cache, refresh bg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Avatars, feeds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Cache-only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Cache, never network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Truly immutable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Network-only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Skip SW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Auth, payments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DD9FF"/>
                </a:solidFill>
              </a:rPr>
              <a:t>10. Service Workers — pros &amp;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6EEA9B"/>
                </a:solidFill>
              </a:rPr>
              <a:t>Pros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7474"/>
                </a:solidFill>
              </a:rPr>
              <a:t>Pitfalls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6EEA9B"/>
                </a:solidFill>
              </a:rPr>
              <a:t>•  Foundation for offline / push / install.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6EEA9B"/>
                </a:solidFill>
              </a:rPr>
              <a:t>•  Massive perf wins on repeat visits.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6EEA9B"/>
                </a:solidFill>
              </a:rPr>
              <a:t>•  Language-agnostic backend.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FF7474"/>
                </a:solidFill>
              </a:rPr>
              <a:t>•  Cache invalidation is hard.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7474"/>
                </a:solidFill>
              </a:rPr>
              <a:t>•  Lifecycle confuses everyone.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7474"/>
                </a:solidFill>
              </a:rPr>
              <a:t>•  Buggy SW locks users into old version.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7474"/>
                </a:solidFill>
              </a:rPr>
              <a:t>•  HTTPS required (localhost OK in dev).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DD9FF"/>
                </a:solidFill>
              </a:rPr>
              <a:t>11. Web Push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FD166"/>
                </a:solidFill>
              </a:rPr>
              <a:t>Deliver a notification while the tab is closed — a doorbell, not a data channel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ECEFF4"/>
                </a:solidFill>
              </a:rPr>
              <a:t>Server ──VAPID-signed──► Push Service (FCM / Mozilla / Apple)
                                  │
                                  ▼
                       Service Worker `push` event
                                  │
                                  ▼
                       showNotification() → user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DD9FF"/>
                </a:solidFill>
              </a:rPr>
              <a:t>11. Web Push — pros &amp; cons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6EEA9B"/>
                </a:solidFill>
              </a:rPr>
              <a:t>Pros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7474"/>
                </a:solidFill>
              </a:rPr>
              <a:t>Cons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6EEA9B"/>
                </a:solidFill>
              </a:rPr>
              <a:t>•  Re-engages without an app store.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6EEA9B"/>
                </a:solidFill>
              </a:rPr>
              <a:t>•  Uses vendor push infra.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6EEA9B"/>
                </a:solidFill>
              </a:rPr>
              <a:t>•  Strong opt-in / revocable.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FF7474"/>
                </a:solidFill>
              </a:rPr>
              <a:t>•  Permission friction.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7474"/>
                </a:solidFill>
              </a:rPr>
              <a:t>•  iOS needs installed PWA (since 16.4).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7474"/>
                </a:solidFill>
              </a:rPr>
              <a:t>•  Best-effort, ~4 KB payload.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7474"/>
                </a:solidFill>
              </a:rPr>
              <a:t>•  Easy to abuse → users mute you.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DD9FF"/>
                </a:solidFill>
              </a:rPr>
              <a:t>11. Web Push —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Chat / mention notifications while user is away.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Calendar / meeting reminders.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Order, shipping, ride-share status.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Time-sensitive alerts (price drops, breaking news).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DD9FF"/>
                </a:solidFill>
              </a:rPr>
              <a:t>12. Progressive Web Apps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FD166"/>
                </a:solidFill>
              </a:rPr>
              <a:t>A pattern, not a single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Web App Manifest — name, icons, theme.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Service Worker — proxy, cache, push.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HTTPS — non-negotiable.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Responsive UI, install prompt, offline, push, background sync.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DD9FF"/>
                </a:solidFill>
              </a:rPr>
              <a:t>12. PWA — pros &amp; cons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6EEA9B"/>
                </a:solidFill>
              </a:rPr>
              <a:t>Pros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7474"/>
                </a:solidFill>
              </a:rPr>
              <a:t>Cons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6EEA9B"/>
                </a:solidFill>
              </a:rPr>
              <a:t>•  Zero install friction.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6EEA9B"/>
                </a:solidFill>
              </a:rPr>
              <a:t>•  One codebase, all platforms.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6EEA9B"/>
                </a:solidFill>
              </a:rPr>
              <a:t>•  Auto updates.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6EEA9B"/>
                </a:solidFill>
              </a:rPr>
              <a:t>•  Cheap MVP path.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FF7474"/>
                </a:solidFill>
              </a:rPr>
              <a:t>•  iOS lags on some APIs.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7474"/>
                </a:solidFill>
              </a:rPr>
              <a:t>•  Storage quotas can be reclaimed.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7474"/>
                </a:solidFill>
              </a:rPr>
              <a:t>•  SW lifecycle learning curve.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FF7474"/>
                </a:solidFill>
              </a:rPr>
              <a:t>•  Discoverability outside web.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DD9FF"/>
                </a:solidFill>
              </a:rPr>
              <a:t>12. PWA — examples in the wild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Twitter Lite, Pinterest, Starbucks, Uber.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News &amp; media (offline-on-the-train).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Field-service &amp; logistics in poor connectivity.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Internal tools that bypass the store.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Note-taking, time-tracking, productivity apps.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DD9FF"/>
                </a:solidFill>
              </a:rPr>
              <a:t>13. Adjacent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gRPC streaming — service-to-service; browser via gRPC-Web.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MQTT — IoT pub/sub; browser via WS bridge.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GraphQL subscriptions — live queries over WS/SSE.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WebTransport — HTTP/3 + QUIC; streams + datagrams.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Webhooks — server-to-server "I'll POST you when…".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BroadcastChannel / SharedWorker — tab coordination.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DD9FF"/>
                </a:solidFill>
              </a:rPr>
              <a:t>13. Do NOT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FF7474"/>
                </a:solidFill>
              </a:rPr>
              <a:t>•  HTTP/2 Server Push — Chrome removed support in 2022.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Replace with: HTTP streaming, SSE, or &lt;link rel="preload"&gt;.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999AA"/>
                </a:solidFill>
              </a:rPr>
              <a:t>If AI-generated code reaches for it, replace.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DD9FF"/>
                </a:solidFill>
              </a:rPr>
              <a:t>14. Decision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Anything real-time? No → REST. Stop.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Server → client only?  Low freq → polling.  High freq → SSE.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Both directions?  .NET → SignalR.  Else → WebSockets.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Audio / video / sub-100ms? → WebRTC + WS/SignalR signaling.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Tab closed engagement? → Web Push + Service Worker.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Installable + offline? → PWA on top of any of the above.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DD9FF"/>
                </a:solidFill>
              </a:rPr>
              <a:t>14. Cheat sheet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18872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Tech</a:t>
                      </a:r>
                    </a:p>
                  </a:txBody>
                  <a:tcPr>
                    <a:solidFill>
                      <a:srgbClr val="1A3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Direction</a:t>
                      </a:r>
                    </a:p>
                  </a:txBody>
                  <a:tcPr>
                    <a:solidFill>
                      <a:srgbClr val="1A3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Sweet spot</a:t>
                      </a:r>
                    </a:p>
                  </a:txBody>
                  <a:tcPr>
                    <a:solidFill>
                      <a:srgbClr val="1A3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Avoid for</a:t>
                      </a:r>
                    </a:p>
                  </a:txBody>
                  <a:tcPr>
                    <a:solidFill>
                      <a:srgbClr val="1A3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Short polling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C↔S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"Is job done?"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High freq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Long polling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C↔S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Hostile networks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Bursty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HTTP streaming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S→C (POST)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LLM tokens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Needs reconnect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SSE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S→C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Dashboards, feeds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Chat / games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WebSockets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C↔S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Chat, collab, games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A/V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SignalR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C↔S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Real-time on .NET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Non-.NET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WebRTC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P↔P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A/V, P2P data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Notifications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Web Push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S→C bg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Doorbell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Bulk data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PWA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Installable, offline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CEFF4"/>
                          </a:solidFill>
                        </a:rPr>
                        <a:t>Heavy native</a:t>
                      </a:r>
                    </a:p>
                  </a:txBody>
                  <a:tcPr>
                    <a:solidFill>
                      <a:srgbClr val="1E28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DD9FF"/>
                </a:solidFill>
              </a:rPr>
              <a:t>15. Cross-cutting concerns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Scaling — sticky sessions, backplanes, region locality, backpressure.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Security — TLS, JWT validated on connect AND per call, rate limits.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Observability — connection counts, p95 latency, reconnect rate, transport mix.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Cost — egress dominates; idle connections aren't free.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DD9FF"/>
                </a:solidFill>
              </a:rPr>
              <a:t>16.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FD166"/>
                </a:solidFill>
              </a:rPr>
              <a:t>One paragraph that ties it all together: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HTTP pulls. Polling fakes push by asking on a loop.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HTTP streaming delivers one long chunked response (LLM tokens).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SSE standardizes that for S→C with auto-reconnect.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WebSockets turn HTTP into a bidirectional pipe.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SignalR wraps WS/SSE/long-polling in productive .NET form.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WebRTC opens encrypted P2P media + data between browsers.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Service Workers power offline &amp; background.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Web Push rings the user's doorbell.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PWAs package it all into installable, offline-capable apps.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DD9FF"/>
                </a:solidFill>
              </a:rPr>
              <a:t>Studio lab 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One React app, one ASP.NET Core (.NET 10) backend.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Every tech has its own page.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EF Core for persistence, JWT for auth, Application Insights for telemetry.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Every demo heavily commented for learning.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ECEFF4"/>
                </a:solidFill>
              </a:rPr>
              <a:t>•  See sample-app/README.md for run instructions.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 b="1">
                <a:solidFill>
                  <a:srgbClr val="5DD9FF"/>
                </a:solidFill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999AA"/>
                </a:solidFill>
              </a:rPr>
              <a:t>Cross-referenced with GPT-5.5 (high reasoning).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